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85" r:id="rId2"/>
    <p:sldId id="437" r:id="rId3"/>
    <p:sldId id="492" r:id="rId4"/>
    <p:sldId id="477" r:id="rId5"/>
    <p:sldId id="501" r:id="rId6"/>
    <p:sldId id="487" r:id="rId7"/>
    <p:sldId id="496" r:id="rId8"/>
    <p:sldId id="500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iams Jason" initials="WJ" lastIdx="18" clrIdx="0">
    <p:extLst>
      <p:ext uri="{19B8F6BF-5375-455C-9EA6-DF929625EA0E}">
        <p15:presenceInfo xmlns:p15="http://schemas.microsoft.com/office/powerpoint/2012/main" userId="S-1-5-21-1822897257-3862625240-3635244478-2167" providerId="AD"/>
      </p:ext>
    </p:extLst>
  </p:cmAuthor>
  <p:cmAuthor id="2" name="Mata-Gomez Alejandro" initials="MA" lastIdx="16" clrIdx="1">
    <p:extLst>
      <p:ext uri="{19B8F6BF-5375-455C-9EA6-DF929625EA0E}">
        <p15:presenceInfo xmlns:p15="http://schemas.microsoft.com/office/powerpoint/2012/main" userId="S-1-5-21-1822897257-3862625240-3635244478-15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838"/>
    <a:srgbClr val="4A0E87"/>
    <a:srgbClr val="FEFEFE"/>
    <a:srgbClr val="058282"/>
    <a:srgbClr val="4A870D"/>
    <a:srgbClr val="3E3E9F"/>
    <a:srgbClr val="881010"/>
    <a:srgbClr val="CC9900"/>
    <a:srgbClr val="259325"/>
    <a:srgbClr val="86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2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4"/>
            <a:ext cx="12203430" cy="5961446"/>
          </a:xfrm>
          <a:prstGeom prst="rect">
            <a:avLst/>
          </a:prstGeom>
        </p:spPr>
      </p:pic>
      <p:sp>
        <p:nvSpPr>
          <p:cNvPr id="39" name="Text Box 8"/>
          <p:cNvSpPr txBox="1">
            <a:spLocks noChangeArrowheads="1"/>
          </p:cNvSpPr>
          <p:nvPr userDrawn="1"/>
        </p:nvSpPr>
        <p:spPr bwMode="auto">
          <a:xfrm>
            <a:off x="3549909" y="6121774"/>
            <a:ext cx="50454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tabLst/>
              <a:defRPr/>
            </a:pP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K1 Competence Center - Initiated by the Federal Ministry of Transport, Innovation and Technology (BMVIT)</a:t>
            </a:r>
            <a:r>
              <a:rPr lang="en-US" sz="8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and the Federal Ministry of Digital and 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Economic Affairs (BMDW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).</a:t>
            </a:r>
          </a:p>
          <a:p>
            <a:pPr algn="ctr">
              <a:defRPr/>
            </a:pP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Funded by the Austrian Research Promotion Agency (FFG), Land </a:t>
            </a:r>
            <a:r>
              <a:rPr 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Steiermark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and  the </a:t>
            </a:r>
            <a:r>
              <a:rPr 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Styrian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Business Promotion Agency (SFG).</a:t>
            </a:r>
            <a:endParaRPr lang="de-DE" sz="800" dirty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1" name="Picture 12" descr="Land_Stm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0744" y="6109190"/>
            <a:ext cx="567531" cy="227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3" name="Group 13"/>
          <p:cNvGrpSpPr/>
          <p:nvPr userDrawn="1"/>
        </p:nvGrpSpPr>
        <p:grpSpPr>
          <a:xfrm>
            <a:off x="9265155" y="6177086"/>
            <a:ext cx="2628733" cy="423964"/>
            <a:chOff x="9871702" y="6372648"/>
            <a:chExt cx="2027868" cy="327056"/>
          </a:xfrm>
        </p:grpSpPr>
        <p:pic>
          <p:nvPicPr>
            <p:cNvPr id="44" name="Picture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45" name="Picture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46" name="Picture 1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  <p:pic>
        <p:nvPicPr>
          <p:cNvPr id="47" name="Grafik 4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480" y="6564639"/>
            <a:ext cx="567531" cy="242934"/>
          </a:xfrm>
          <a:prstGeom prst="rect">
            <a:avLst/>
          </a:prstGeom>
        </p:spPr>
      </p:pic>
      <p:pic>
        <p:nvPicPr>
          <p:cNvPr id="48" name="Grafik 4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8" y="6270660"/>
            <a:ext cx="728695" cy="360494"/>
          </a:xfrm>
          <a:prstGeom prst="rect">
            <a:avLst/>
          </a:prstGeom>
        </p:spPr>
      </p:pic>
      <p:sp>
        <p:nvSpPr>
          <p:cNvPr id="22" name="Titel 21"/>
          <p:cNvSpPr>
            <a:spLocks noGrp="1"/>
          </p:cNvSpPr>
          <p:nvPr>
            <p:ph type="title" hasCustomPrompt="1"/>
          </p:nvPr>
        </p:nvSpPr>
        <p:spPr>
          <a:xfrm>
            <a:off x="249167" y="275469"/>
            <a:ext cx="11391386" cy="634621"/>
          </a:xfrm>
        </p:spPr>
        <p:txBody>
          <a:bodyPr>
            <a:noAutofit/>
          </a:bodyPr>
          <a:lstStyle>
            <a:lvl1pPr>
              <a:defRPr sz="4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THIS IS THE TITLE OF YOUR PRESENTATION</a:t>
            </a:r>
            <a:endParaRPr lang="de-AT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249167" y="978982"/>
            <a:ext cx="11391386" cy="1605354"/>
          </a:xfrm>
        </p:spPr>
        <p:txBody>
          <a:bodyPr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AT" dirty="0"/>
              <a:t>ADDITIONAL INFORMATION</a:t>
            </a:r>
          </a:p>
        </p:txBody>
      </p:sp>
      <p:cxnSp>
        <p:nvCxnSpPr>
          <p:cNvPr id="7" name="Gerader Verbinder 6"/>
          <p:cNvCxnSpPr/>
          <p:nvPr userDrawn="1"/>
        </p:nvCxnSpPr>
        <p:spPr>
          <a:xfrm>
            <a:off x="-53340" y="5938081"/>
            <a:ext cx="12321540" cy="0"/>
          </a:xfrm>
          <a:prstGeom prst="line">
            <a:avLst/>
          </a:prstGeom>
          <a:ln w="38100">
            <a:solidFill>
              <a:srgbClr val="0096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358" y="6383618"/>
            <a:ext cx="521855" cy="24685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37" y="6473511"/>
            <a:ext cx="1001067" cy="35912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36" y="6034639"/>
            <a:ext cx="964255" cy="36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7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5998" y="432000"/>
            <a:ext cx="11520237" cy="1050877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881" y="1683841"/>
            <a:ext cx="11520237" cy="4812502"/>
          </a:xfrm>
        </p:spPr>
        <p:txBody>
          <a:bodyPr>
            <a:noAutofit/>
          </a:bodyPr>
          <a:lstStyle>
            <a:lvl1pPr marL="228600" indent="-228600" algn="just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200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180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160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140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3"/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 userDrawn="1"/>
        </p:nvSpPr>
        <p:spPr>
          <a:xfrm>
            <a:off x="0" y="0"/>
            <a:ext cx="3045600" cy="540000"/>
          </a:xfrm>
          <a:custGeom>
            <a:avLst/>
            <a:gdLst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30456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13692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5600" h="709684">
                <a:moveTo>
                  <a:pt x="0" y="0"/>
                </a:moveTo>
                <a:lnTo>
                  <a:pt x="3045600" y="0"/>
                </a:lnTo>
                <a:lnTo>
                  <a:pt x="1369200" y="709684"/>
                </a:lnTo>
                <a:lnTo>
                  <a:pt x="0" y="709684"/>
                </a:lnTo>
                <a:lnTo>
                  <a:pt x="0" y="0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grpSp>
        <p:nvGrpSpPr>
          <p:cNvPr id="19" name="Group 11"/>
          <p:cNvGrpSpPr/>
          <p:nvPr userDrawn="1"/>
        </p:nvGrpSpPr>
        <p:grpSpPr>
          <a:xfrm>
            <a:off x="10332231" y="6554393"/>
            <a:ext cx="1476762" cy="227174"/>
            <a:chOff x="9871702" y="6372648"/>
            <a:chExt cx="2027868" cy="327056"/>
          </a:xfrm>
        </p:grpSpPr>
        <p:pic>
          <p:nvPicPr>
            <p:cNvPr id="20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21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22" name="Picture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694695" y="96628"/>
            <a:ext cx="343080" cy="34308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79" y="101472"/>
            <a:ext cx="1013125" cy="3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8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/>
          <p:cNvSpPr/>
          <p:nvPr userDrawn="1"/>
        </p:nvSpPr>
        <p:spPr>
          <a:xfrm>
            <a:off x="0" y="6310562"/>
            <a:ext cx="12192000" cy="547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Shape 24"/>
          <p:cNvSpPr/>
          <p:nvPr userDrawn="1"/>
        </p:nvSpPr>
        <p:spPr>
          <a:xfrm>
            <a:off x="225553" y="0"/>
            <a:ext cx="3119713" cy="6868120"/>
          </a:xfrm>
          <a:custGeom>
            <a:avLst/>
            <a:gdLst>
              <a:gd name="connsiteX0" fmla="*/ 0 w 123070"/>
              <a:gd name="connsiteY0" fmla="*/ 2 h 206685"/>
              <a:gd name="connsiteX1" fmla="*/ 0 w 123070"/>
              <a:gd name="connsiteY1" fmla="*/ 206685 h 206685"/>
              <a:gd name="connsiteX2" fmla="*/ 123070 w 123070"/>
              <a:gd name="connsiteY2" fmla="*/ 206547 h 206685"/>
              <a:gd name="connsiteX3" fmla="*/ 67807 w 123070"/>
              <a:gd name="connsiteY3" fmla="*/ 0 h 206685"/>
              <a:gd name="connsiteX4" fmla="*/ 0 w 123070"/>
              <a:gd name="connsiteY4" fmla="*/ 2 h 206685"/>
              <a:gd name="connsiteX0" fmla="*/ 0 w 74318"/>
              <a:gd name="connsiteY0" fmla="*/ 2 h 206988"/>
              <a:gd name="connsiteX1" fmla="*/ 0 w 74318"/>
              <a:gd name="connsiteY1" fmla="*/ 206685 h 206988"/>
              <a:gd name="connsiteX2" fmla="*/ 74318 w 74318"/>
              <a:gd name="connsiteY2" fmla="*/ 206988 h 206988"/>
              <a:gd name="connsiteX3" fmla="*/ 67807 w 74318"/>
              <a:gd name="connsiteY3" fmla="*/ 0 h 206988"/>
              <a:gd name="connsiteX4" fmla="*/ 0 w 74318"/>
              <a:gd name="connsiteY4" fmla="*/ 2 h 206988"/>
              <a:gd name="connsiteX0" fmla="*/ 0 w 96226"/>
              <a:gd name="connsiteY0" fmla="*/ 0 h 206986"/>
              <a:gd name="connsiteX1" fmla="*/ 0 w 96226"/>
              <a:gd name="connsiteY1" fmla="*/ 206683 h 206986"/>
              <a:gd name="connsiteX2" fmla="*/ 74318 w 96226"/>
              <a:gd name="connsiteY2" fmla="*/ 206986 h 206986"/>
              <a:gd name="connsiteX3" fmla="*/ 96226 w 96226"/>
              <a:gd name="connsiteY3" fmla="*/ 659 h 206986"/>
              <a:gd name="connsiteX4" fmla="*/ 0 w 96226"/>
              <a:gd name="connsiteY4" fmla="*/ 0 h 206986"/>
              <a:gd name="connsiteX0" fmla="*/ 0 w 98537"/>
              <a:gd name="connsiteY0" fmla="*/ 2 h 206988"/>
              <a:gd name="connsiteX1" fmla="*/ 0 w 98537"/>
              <a:gd name="connsiteY1" fmla="*/ 206685 h 206988"/>
              <a:gd name="connsiteX2" fmla="*/ 74318 w 98537"/>
              <a:gd name="connsiteY2" fmla="*/ 206988 h 206988"/>
              <a:gd name="connsiteX3" fmla="*/ 98537 w 98537"/>
              <a:gd name="connsiteY3" fmla="*/ 0 h 206988"/>
              <a:gd name="connsiteX4" fmla="*/ 0 w 98537"/>
              <a:gd name="connsiteY4" fmla="*/ 2 h 20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37" h="206988" extrusionOk="0">
                <a:moveTo>
                  <a:pt x="0" y="2"/>
                </a:moveTo>
                <a:lnTo>
                  <a:pt x="0" y="206685"/>
                </a:lnTo>
                <a:lnTo>
                  <a:pt x="74318" y="206988"/>
                </a:lnTo>
                <a:lnTo>
                  <a:pt x="98537" y="0"/>
                </a:lnTo>
                <a:lnTo>
                  <a:pt x="0" y="2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</p:sp>
      <p:sp>
        <p:nvSpPr>
          <p:cNvPr id="9" name="Shape 24"/>
          <p:cNvSpPr/>
          <p:nvPr userDrawn="1"/>
        </p:nvSpPr>
        <p:spPr>
          <a:xfrm>
            <a:off x="0" y="-66"/>
            <a:ext cx="3119713" cy="6868120"/>
          </a:xfrm>
          <a:custGeom>
            <a:avLst/>
            <a:gdLst>
              <a:gd name="connsiteX0" fmla="*/ 0 w 123070"/>
              <a:gd name="connsiteY0" fmla="*/ 2 h 206685"/>
              <a:gd name="connsiteX1" fmla="*/ 0 w 123070"/>
              <a:gd name="connsiteY1" fmla="*/ 206685 h 206685"/>
              <a:gd name="connsiteX2" fmla="*/ 123070 w 123070"/>
              <a:gd name="connsiteY2" fmla="*/ 206547 h 206685"/>
              <a:gd name="connsiteX3" fmla="*/ 67807 w 123070"/>
              <a:gd name="connsiteY3" fmla="*/ 0 h 206685"/>
              <a:gd name="connsiteX4" fmla="*/ 0 w 123070"/>
              <a:gd name="connsiteY4" fmla="*/ 2 h 206685"/>
              <a:gd name="connsiteX0" fmla="*/ 0 w 74318"/>
              <a:gd name="connsiteY0" fmla="*/ 2 h 206988"/>
              <a:gd name="connsiteX1" fmla="*/ 0 w 74318"/>
              <a:gd name="connsiteY1" fmla="*/ 206685 h 206988"/>
              <a:gd name="connsiteX2" fmla="*/ 74318 w 74318"/>
              <a:gd name="connsiteY2" fmla="*/ 206988 h 206988"/>
              <a:gd name="connsiteX3" fmla="*/ 67807 w 74318"/>
              <a:gd name="connsiteY3" fmla="*/ 0 h 206988"/>
              <a:gd name="connsiteX4" fmla="*/ 0 w 74318"/>
              <a:gd name="connsiteY4" fmla="*/ 2 h 206988"/>
              <a:gd name="connsiteX0" fmla="*/ 0 w 96226"/>
              <a:gd name="connsiteY0" fmla="*/ 0 h 206986"/>
              <a:gd name="connsiteX1" fmla="*/ 0 w 96226"/>
              <a:gd name="connsiteY1" fmla="*/ 206683 h 206986"/>
              <a:gd name="connsiteX2" fmla="*/ 74318 w 96226"/>
              <a:gd name="connsiteY2" fmla="*/ 206986 h 206986"/>
              <a:gd name="connsiteX3" fmla="*/ 96226 w 96226"/>
              <a:gd name="connsiteY3" fmla="*/ 659 h 206986"/>
              <a:gd name="connsiteX4" fmla="*/ 0 w 96226"/>
              <a:gd name="connsiteY4" fmla="*/ 0 h 206986"/>
              <a:gd name="connsiteX0" fmla="*/ 0 w 98537"/>
              <a:gd name="connsiteY0" fmla="*/ 2 h 206988"/>
              <a:gd name="connsiteX1" fmla="*/ 0 w 98537"/>
              <a:gd name="connsiteY1" fmla="*/ 206685 h 206988"/>
              <a:gd name="connsiteX2" fmla="*/ 74318 w 98537"/>
              <a:gd name="connsiteY2" fmla="*/ 206988 h 206988"/>
              <a:gd name="connsiteX3" fmla="*/ 98537 w 98537"/>
              <a:gd name="connsiteY3" fmla="*/ 0 h 206988"/>
              <a:gd name="connsiteX4" fmla="*/ 0 w 98537"/>
              <a:gd name="connsiteY4" fmla="*/ 2 h 20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37" h="206988" extrusionOk="0">
                <a:moveTo>
                  <a:pt x="0" y="2"/>
                </a:moveTo>
                <a:lnTo>
                  <a:pt x="0" y="206685"/>
                </a:lnTo>
                <a:lnTo>
                  <a:pt x="74318" y="206988"/>
                </a:lnTo>
                <a:lnTo>
                  <a:pt x="98537" y="0"/>
                </a:lnTo>
                <a:lnTo>
                  <a:pt x="0" y="2"/>
                </a:lnTo>
                <a:close/>
              </a:path>
            </a:pathLst>
          </a:custGeom>
          <a:solidFill>
            <a:srgbClr val="EE2B56"/>
          </a:solidFill>
          <a:ln>
            <a:noFill/>
          </a:ln>
        </p:spPr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61477" y="79833"/>
            <a:ext cx="3058236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grpSp>
        <p:nvGrpSpPr>
          <p:cNvPr id="10" name="Group 11"/>
          <p:cNvGrpSpPr/>
          <p:nvPr userDrawn="1"/>
        </p:nvGrpSpPr>
        <p:grpSpPr>
          <a:xfrm>
            <a:off x="9364571" y="6362403"/>
            <a:ext cx="2673204" cy="411226"/>
            <a:chOff x="9871702" y="6372648"/>
            <a:chExt cx="2027868" cy="327056"/>
          </a:xfrm>
        </p:grpSpPr>
        <p:pic>
          <p:nvPicPr>
            <p:cNvPr id="11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12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13" name="Picture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46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-5629" y="6278032"/>
            <a:ext cx="12197629" cy="5960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12"/>
          <p:cNvSpPr/>
          <p:nvPr userDrawn="1"/>
        </p:nvSpPr>
        <p:spPr>
          <a:xfrm>
            <a:off x="0" y="6428096"/>
            <a:ext cx="12192000" cy="429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Shape 19"/>
          <p:cNvSpPr/>
          <p:nvPr userDrawn="1"/>
        </p:nvSpPr>
        <p:spPr>
          <a:xfrm>
            <a:off x="227238" y="0"/>
            <a:ext cx="5647554" cy="6874124"/>
          </a:xfrm>
          <a:custGeom>
            <a:avLst/>
            <a:gdLst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864 w 211127"/>
              <a:gd name="connsiteY3" fmla="*/ 521 h 206903"/>
              <a:gd name="connsiteX4" fmla="*/ 0 w 211127"/>
              <a:gd name="connsiteY4" fmla="*/ 0 h 206903"/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425 w 211127"/>
              <a:gd name="connsiteY3" fmla="*/ 2937 h 206903"/>
              <a:gd name="connsiteX4" fmla="*/ 0 w 211127"/>
              <a:gd name="connsiteY4" fmla="*/ 0 h 206903"/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425 w 211127"/>
              <a:gd name="connsiteY3" fmla="*/ 521 h 206903"/>
              <a:gd name="connsiteX4" fmla="*/ 0 w 211127"/>
              <a:gd name="connsiteY4" fmla="*/ 0 h 206903"/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864 w 211127"/>
              <a:gd name="connsiteY3" fmla="*/ 82 h 206903"/>
              <a:gd name="connsiteX4" fmla="*/ 0 w 211127"/>
              <a:gd name="connsiteY4" fmla="*/ 0 h 206903"/>
              <a:gd name="connsiteX0" fmla="*/ 0 w 211347"/>
              <a:gd name="connsiteY0" fmla="*/ 0 h 206903"/>
              <a:gd name="connsiteX1" fmla="*/ 52 w 211347"/>
              <a:gd name="connsiteY1" fmla="*/ 206903 h 206903"/>
              <a:gd name="connsiteX2" fmla="*/ 211347 w 211347"/>
              <a:gd name="connsiteY2" fmla="*/ 206106 h 206903"/>
              <a:gd name="connsiteX3" fmla="*/ 155864 w 211347"/>
              <a:gd name="connsiteY3" fmla="*/ 82 h 206903"/>
              <a:gd name="connsiteX4" fmla="*/ 0 w 211347"/>
              <a:gd name="connsiteY4" fmla="*/ 0 h 206903"/>
              <a:gd name="connsiteX0" fmla="*/ 169 w 211516"/>
              <a:gd name="connsiteY0" fmla="*/ 0 h 206106"/>
              <a:gd name="connsiteX1" fmla="*/ 1 w 211516"/>
              <a:gd name="connsiteY1" fmla="*/ 201852 h 206106"/>
              <a:gd name="connsiteX2" fmla="*/ 211516 w 211516"/>
              <a:gd name="connsiteY2" fmla="*/ 206106 h 206106"/>
              <a:gd name="connsiteX3" fmla="*/ 156033 w 211516"/>
              <a:gd name="connsiteY3" fmla="*/ 82 h 206106"/>
              <a:gd name="connsiteX4" fmla="*/ 169 w 211516"/>
              <a:gd name="connsiteY4" fmla="*/ 0 h 206106"/>
              <a:gd name="connsiteX0" fmla="*/ 169 w 211516"/>
              <a:gd name="connsiteY0" fmla="*/ 0 h 206244"/>
              <a:gd name="connsiteX1" fmla="*/ 1 w 211516"/>
              <a:gd name="connsiteY1" fmla="*/ 206244 h 206244"/>
              <a:gd name="connsiteX2" fmla="*/ 211516 w 211516"/>
              <a:gd name="connsiteY2" fmla="*/ 206106 h 206244"/>
              <a:gd name="connsiteX3" fmla="*/ 156033 w 211516"/>
              <a:gd name="connsiteY3" fmla="*/ 82 h 206244"/>
              <a:gd name="connsiteX4" fmla="*/ 169 w 211516"/>
              <a:gd name="connsiteY4" fmla="*/ 0 h 206244"/>
              <a:gd name="connsiteX0" fmla="*/ 169 w 211516"/>
              <a:gd name="connsiteY0" fmla="*/ 138 h 206382"/>
              <a:gd name="connsiteX1" fmla="*/ 1 w 211516"/>
              <a:gd name="connsiteY1" fmla="*/ 206382 h 206382"/>
              <a:gd name="connsiteX2" fmla="*/ 211516 w 211516"/>
              <a:gd name="connsiteY2" fmla="*/ 206244 h 206382"/>
              <a:gd name="connsiteX3" fmla="*/ 205206 w 211516"/>
              <a:gd name="connsiteY3" fmla="*/ 0 h 206382"/>
              <a:gd name="connsiteX4" fmla="*/ 169 w 211516"/>
              <a:gd name="connsiteY4" fmla="*/ 138 h 206382"/>
              <a:gd name="connsiteX0" fmla="*/ 169 w 205206"/>
              <a:gd name="connsiteY0" fmla="*/ 138 h 206382"/>
              <a:gd name="connsiteX1" fmla="*/ 1 w 205206"/>
              <a:gd name="connsiteY1" fmla="*/ 206382 h 206382"/>
              <a:gd name="connsiteX2" fmla="*/ 161545 w 205206"/>
              <a:gd name="connsiteY2" fmla="*/ 206244 h 206382"/>
              <a:gd name="connsiteX3" fmla="*/ 205206 w 205206"/>
              <a:gd name="connsiteY3" fmla="*/ 0 h 206382"/>
              <a:gd name="connsiteX4" fmla="*/ 169 w 205206"/>
              <a:gd name="connsiteY4" fmla="*/ 138 h 20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206" h="206382" extrusionOk="0">
                <a:moveTo>
                  <a:pt x="169" y="138"/>
                </a:moveTo>
                <a:cubicBezTo>
                  <a:pt x="186" y="69106"/>
                  <a:pt x="-16" y="137414"/>
                  <a:pt x="1" y="206382"/>
                </a:cubicBezTo>
                <a:lnTo>
                  <a:pt x="161545" y="206244"/>
                </a:lnTo>
                <a:lnTo>
                  <a:pt x="205206" y="0"/>
                </a:lnTo>
                <a:lnTo>
                  <a:pt x="169" y="138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</p:sp>
      <p:sp>
        <p:nvSpPr>
          <p:cNvPr id="9" name="Shape 19"/>
          <p:cNvSpPr/>
          <p:nvPr userDrawn="1"/>
        </p:nvSpPr>
        <p:spPr>
          <a:xfrm>
            <a:off x="-5629" y="-7328"/>
            <a:ext cx="5647554" cy="6881452"/>
          </a:xfrm>
          <a:custGeom>
            <a:avLst/>
            <a:gdLst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864 w 211127"/>
              <a:gd name="connsiteY3" fmla="*/ 521 h 206903"/>
              <a:gd name="connsiteX4" fmla="*/ 0 w 211127"/>
              <a:gd name="connsiteY4" fmla="*/ 0 h 206903"/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425 w 211127"/>
              <a:gd name="connsiteY3" fmla="*/ 2937 h 206903"/>
              <a:gd name="connsiteX4" fmla="*/ 0 w 211127"/>
              <a:gd name="connsiteY4" fmla="*/ 0 h 206903"/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425 w 211127"/>
              <a:gd name="connsiteY3" fmla="*/ 521 h 206903"/>
              <a:gd name="connsiteX4" fmla="*/ 0 w 211127"/>
              <a:gd name="connsiteY4" fmla="*/ 0 h 206903"/>
              <a:gd name="connsiteX0" fmla="*/ 0 w 211127"/>
              <a:gd name="connsiteY0" fmla="*/ 0 h 206903"/>
              <a:gd name="connsiteX1" fmla="*/ 52 w 211127"/>
              <a:gd name="connsiteY1" fmla="*/ 206903 h 206903"/>
              <a:gd name="connsiteX2" fmla="*/ 211127 w 211127"/>
              <a:gd name="connsiteY2" fmla="*/ 206765 h 206903"/>
              <a:gd name="connsiteX3" fmla="*/ 155864 w 211127"/>
              <a:gd name="connsiteY3" fmla="*/ 82 h 206903"/>
              <a:gd name="connsiteX4" fmla="*/ 0 w 211127"/>
              <a:gd name="connsiteY4" fmla="*/ 0 h 206903"/>
              <a:gd name="connsiteX0" fmla="*/ 0 w 211347"/>
              <a:gd name="connsiteY0" fmla="*/ 0 h 206903"/>
              <a:gd name="connsiteX1" fmla="*/ 52 w 211347"/>
              <a:gd name="connsiteY1" fmla="*/ 206903 h 206903"/>
              <a:gd name="connsiteX2" fmla="*/ 211347 w 211347"/>
              <a:gd name="connsiteY2" fmla="*/ 206106 h 206903"/>
              <a:gd name="connsiteX3" fmla="*/ 155864 w 211347"/>
              <a:gd name="connsiteY3" fmla="*/ 82 h 206903"/>
              <a:gd name="connsiteX4" fmla="*/ 0 w 211347"/>
              <a:gd name="connsiteY4" fmla="*/ 0 h 206903"/>
              <a:gd name="connsiteX0" fmla="*/ 169 w 211516"/>
              <a:gd name="connsiteY0" fmla="*/ 0 h 206106"/>
              <a:gd name="connsiteX1" fmla="*/ 1 w 211516"/>
              <a:gd name="connsiteY1" fmla="*/ 201852 h 206106"/>
              <a:gd name="connsiteX2" fmla="*/ 211516 w 211516"/>
              <a:gd name="connsiteY2" fmla="*/ 206106 h 206106"/>
              <a:gd name="connsiteX3" fmla="*/ 156033 w 211516"/>
              <a:gd name="connsiteY3" fmla="*/ 82 h 206106"/>
              <a:gd name="connsiteX4" fmla="*/ 169 w 211516"/>
              <a:gd name="connsiteY4" fmla="*/ 0 h 206106"/>
              <a:gd name="connsiteX0" fmla="*/ 169 w 211516"/>
              <a:gd name="connsiteY0" fmla="*/ 0 h 206244"/>
              <a:gd name="connsiteX1" fmla="*/ 1 w 211516"/>
              <a:gd name="connsiteY1" fmla="*/ 206244 h 206244"/>
              <a:gd name="connsiteX2" fmla="*/ 211516 w 211516"/>
              <a:gd name="connsiteY2" fmla="*/ 206106 h 206244"/>
              <a:gd name="connsiteX3" fmla="*/ 156033 w 211516"/>
              <a:gd name="connsiteY3" fmla="*/ 82 h 206244"/>
              <a:gd name="connsiteX4" fmla="*/ 169 w 211516"/>
              <a:gd name="connsiteY4" fmla="*/ 0 h 206244"/>
              <a:gd name="connsiteX0" fmla="*/ 169 w 211516"/>
              <a:gd name="connsiteY0" fmla="*/ 138 h 206382"/>
              <a:gd name="connsiteX1" fmla="*/ 1 w 211516"/>
              <a:gd name="connsiteY1" fmla="*/ 206382 h 206382"/>
              <a:gd name="connsiteX2" fmla="*/ 211516 w 211516"/>
              <a:gd name="connsiteY2" fmla="*/ 206244 h 206382"/>
              <a:gd name="connsiteX3" fmla="*/ 205206 w 211516"/>
              <a:gd name="connsiteY3" fmla="*/ 0 h 206382"/>
              <a:gd name="connsiteX4" fmla="*/ 169 w 211516"/>
              <a:gd name="connsiteY4" fmla="*/ 138 h 206382"/>
              <a:gd name="connsiteX0" fmla="*/ 169 w 205206"/>
              <a:gd name="connsiteY0" fmla="*/ 138 h 206382"/>
              <a:gd name="connsiteX1" fmla="*/ 1 w 205206"/>
              <a:gd name="connsiteY1" fmla="*/ 206382 h 206382"/>
              <a:gd name="connsiteX2" fmla="*/ 161545 w 205206"/>
              <a:gd name="connsiteY2" fmla="*/ 206244 h 206382"/>
              <a:gd name="connsiteX3" fmla="*/ 205206 w 205206"/>
              <a:gd name="connsiteY3" fmla="*/ 0 h 206382"/>
              <a:gd name="connsiteX4" fmla="*/ 169 w 205206"/>
              <a:gd name="connsiteY4" fmla="*/ 138 h 20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206" h="206382" extrusionOk="0">
                <a:moveTo>
                  <a:pt x="169" y="138"/>
                </a:moveTo>
                <a:cubicBezTo>
                  <a:pt x="186" y="69106"/>
                  <a:pt x="-16" y="137414"/>
                  <a:pt x="1" y="206382"/>
                </a:cubicBezTo>
                <a:lnTo>
                  <a:pt x="161545" y="206244"/>
                </a:lnTo>
                <a:lnTo>
                  <a:pt x="205206" y="0"/>
                </a:lnTo>
                <a:lnTo>
                  <a:pt x="169" y="138"/>
                </a:lnTo>
                <a:close/>
              </a:path>
            </a:pathLst>
          </a:custGeom>
          <a:solidFill>
            <a:srgbClr val="EE2B56"/>
          </a:solidFill>
          <a:ln>
            <a:noFill/>
          </a:ln>
        </p:spPr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7523" y="371532"/>
            <a:ext cx="4387901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0"/>
          </p:nvPr>
        </p:nvSpPr>
        <p:spPr>
          <a:xfrm>
            <a:off x="147524" y="1895119"/>
            <a:ext cx="4387900" cy="171127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364571" y="6362403"/>
            <a:ext cx="2673204" cy="411226"/>
            <a:chOff x="9871702" y="6372648"/>
            <a:chExt cx="2027868" cy="327056"/>
          </a:xfrm>
        </p:grpSpPr>
        <p:pic>
          <p:nvPicPr>
            <p:cNvPr id="19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20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21" name="Picture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909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9" name="Inhaltsplatzhalter 2"/>
          <p:cNvSpPr>
            <a:spLocks noGrp="1"/>
          </p:cNvSpPr>
          <p:nvPr>
            <p:ph idx="10"/>
          </p:nvPr>
        </p:nvSpPr>
        <p:spPr>
          <a:xfrm>
            <a:off x="839788" y="2505075"/>
            <a:ext cx="5157787" cy="3603117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20" name="Inhaltsplatzhalter 2"/>
          <p:cNvSpPr>
            <a:spLocks noGrp="1"/>
          </p:cNvSpPr>
          <p:nvPr>
            <p:ph idx="11"/>
          </p:nvPr>
        </p:nvSpPr>
        <p:spPr>
          <a:xfrm>
            <a:off x="6172200" y="2504650"/>
            <a:ext cx="5183188" cy="3603117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18" name="Rechteck 17"/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3" name="Rechteck 7"/>
          <p:cNvSpPr/>
          <p:nvPr userDrawn="1"/>
        </p:nvSpPr>
        <p:spPr>
          <a:xfrm>
            <a:off x="0" y="0"/>
            <a:ext cx="3045600" cy="540000"/>
          </a:xfrm>
          <a:custGeom>
            <a:avLst/>
            <a:gdLst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30456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13692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5600" h="709684">
                <a:moveTo>
                  <a:pt x="0" y="0"/>
                </a:moveTo>
                <a:lnTo>
                  <a:pt x="3045600" y="0"/>
                </a:lnTo>
                <a:lnTo>
                  <a:pt x="1369200" y="709684"/>
                </a:lnTo>
                <a:lnTo>
                  <a:pt x="0" y="709684"/>
                </a:lnTo>
                <a:lnTo>
                  <a:pt x="0" y="0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694695" y="96628"/>
            <a:ext cx="343080" cy="343080"/>
          </a:xfrm>
          <a:prstGeom prst="rect">
            <a:avLst/>
          </a:prstGeom>
        </p:spPr>
      </p:pic>
      <p:sp>
        <p:nvSpPr>
          <p:cNvPr id="42" name="Titel 1"/>
          <p:cNvSpPr>
            <a:spLocks noGrp="1"/>
          </p:cNvSpPr>
          <p:nvPr>
            <p:ph type="title"/>
          </p:nvPr>
        </p:nvSpPr>
        <p:spPr>
          <a:xfrm>
            <a:off x="345600" y="432000"/>
            <a:ext cx="11520237" cy="1050877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79" y="101472"/>
            <a:ext cx="1013125" cy="338235"/>
          </a:xfrm>
          <a:prstGeom prst="rect">
            <a:avLst/>
          </a:prstGeom>
        </p:spPr>
      </p:pic>
      <p:grpSp>
        <p:nvGrpSpPr>
          <p:cNvPr id="25" name="Group 11"/>
          <p:cNvGrpSpPr/>
          <p:nvPr userDrawn="1"/>
        </p:nvGrpSpPr>
        <p:grpSpPr>
          <a:xfrm>
            <a:off x="10332231" y="6554393"/>
            <a:ext cx="1476762" cy="227174"/>
            <a:chOff x="9871702" y="6372648"/>
            <a:chExt cx="2027868" cy="327056"/>
          </a:xfrm>
        </p:grpSpPr>
        <p:pic>
          <p:nvPicPr>
            <p:cNvPr id="26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27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28" name="Pictur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904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740128" y="2148686"/>
            <a:ext cx="208951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beTextmasterformat arbeiten</a:t>
            </a:r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3"/>
          </p:nvPr>
        </p:nvSpPr>
        <p:spPr>
          <a:xfrm>
            <a:off x="1354764" y="2148686"/>
            <a:ext cx="2089513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0"/>
          </p:nvPr>
        </p:nvSpPr>
        <p:spPr>
          <a:xfrm>
            <a:off x="8740129" y="2972598"/>
            <a:ext cx="2089514" cy="2618010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20" name="Inhaltsplatzhalter 2"/>
          <p:cNvSpPr>
            <a:spLocks noGrp="1"/>
          </p:cNvSpPr>
          <p:nvPr>
            <p:ph idx="14"/>
          </p:nvPr>
        </p:nvSpPr>
        <p:spPr>
          <a:xfrm>
            <a:off x="5047446" y="2972598"/>
            <a:ext cx="2089514" cy="2618010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21" name="Inhaltsplatzhalter 2"/>
          <p:cNvSpPr>
            <a:spLocks noGrp="1"/>
          </p:cNvSpPr>
          <p:nvPr>
            <p:ph idx="15"/>
          </p:nvPr>
        </p:nvSpPr>
        <p:spPr>
          <a:xfrm>
            <a:off x="1354763" y="2972598"/>
            <a:ext cx="2089514" cy="2618010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16"/>
          </p:nvPr>
        </p:nvSpPr>
        <p:spPr>
          <a:xfrm>
            <a:off x="5047446" y="2148686"/>
            <a:ext cx="2089513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7" name="Titel 1"/>
          <p:cNvSpPr>
            <a:spLocks noGrp="1"/>
          </p:cNvSpPr>
          <p:nvPr>
            <p:ph type="title"/>
          </p:nvPr>
        </p:nvSpPr>
        <p:spPr>
          <a:xfrm>
            <a:off x="345600" y="432000"/>
            <a:ext cx="10515600" cy="1050877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9" name="Rechteck 38"/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0" name="Rechteck 7"/>
          <p:cNvSpPr/>
          <p:nvPr userDrawn="1"/>
        </p:nvSpPr>
        <p:spPr>
          <a:xfrm>
            <a:off x="0" y="0"/>
            <a:ext cx="3045600" cy="540000"/>
          </a:xfrm>
          <a:custGeom>
            <a:avLst/>
            <a:gdLst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30456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13692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5600" h="709684">
                <a:moveTo>
                  <a:pt x="0" y="0"/>
                </a:moveTo>
                <a:lnTo>
                  <a:pt x="3045600" y="0"/>
                </a:lnTo>
                <a:lnTo>
                  <a:pt x="1369200" y="709684"/>
                </a:lnTo>
                <a:lnTo>
                  <a:pt x="0" y="709684"/>
                </a:lnTo>
                <a:lnTo>
                  <a:pt x="0" y="0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1" name="Grafik 4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694695" y="96628"/>
            <a:ext cx="343080" cy="34308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79" y="101472"/>
            <a:ext cx="1013125" cy="338235"/>
          </a:xfrm>
          <a:prstGeom prst="rect">
            <a:avLst/>
          </a:prstGeom>
        </p:spPr>
      </p:pic>
      <p:grpSp>
        <p:nvGrpSpPr>
          <p:cNvPr id="31" name="Group 11"/>
          <p:cNvGrpSpPr/>
          <p:nvPr userDrawn="1"/>
        </p:nvGrpSpPr>
        <p:grpSpPr>
          <a:xfrm>
            <a:off x="10332231" y="6554393"/>
            <a:ext cx="1476762" cy="227174"/>
            <a:chOff x="9871702" y="6372648"/>
            <a:chExt cx="2027868" cy="327056"/>
          </a:xfrm>
        </p:grpSpPr>
        <p:pic>
          <p:nvPicPr>
            <p:cNvPr id="32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33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34" name="Pictur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775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"/>
          <p:cNvSpPr>
            <a:spLocks noGrp="1"/>
          </p:cNvSpPr>
          <p:nvPr>
            <p:ph type="body" idx="1"/>
          </p:nvPr>
        </p:nvSpPr>
        <p:spPr>
          <a:xfrm>
            <a:off x="821767" y="208433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54179" y="208433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5" name="Inhaltsplatzhalter 2"/>
          <p:cNvSpPr>
            <a:spLocks noGrp="1"/>
          </p:cNvSpPr>
          <p:nvPr>
            <p:ph idx="10"/>
          </p:nvPr>
        </p:nvSpPr>
        <p:spPr>
          <a:xfrm>
            <a:off x="821767" y="2908245"/>
            <a:ext cx="5157787" cy="1181785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1"/>
          </p:nvPr>
        </p:nvSpPr>
        <p:spPr>
          <a:xfrm>
            <a:off x="6154179" y="2907820"/>
            <a:ext cx="5183188" cy="1182210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idx="12"/>
          </p:nvPr>
        </p:nvSpPr>
        <p:spPr>
          <a:xfrm>
            <a:off x="821767" y="43419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9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6154179" y="43419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0" name="Inhaltsplatzhalter 2"/>
          <p:cNvSpPr>
            <a:spLocks noGrp="1"/>
          </p:cNvSpPr>
          <p:nvPr>
            <p:ph idx="14"/>
          </p:nvPr>
        </p:nvSpPr>
        <p:spPr>
          <a:xfrm>
            <a:off x="821767" y="5165812"/>
            <a:ext cx="5157787" cy="1063155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1" name="Inhaltsplatzhalter 2"/>
          <p:cNvSpPr>
            <a:spLocks noGrp="1"/>
          </p:cNvSpPr>
          <p:nvPr>
            <p:ph idx="15"/>
          </p:nvPr>
        </p:nvSpPr>
        <p:spPr>
          <a:xfrm>
            <a:off x="6154179" y="5165388"/>
            <a:ext cx="5183188" cy="1063579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EE2B56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40" name="Rechteck 39"/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1" name="Rechteck 7"/>
          <p:cNvSpPr/>
          <p:nvPr userDrawn="1"/>
        </p:nvSpPr>
        <p:spPr>
          <a:xfrm>
            <a:off x="0" y="0"/>
            <a:ext cx="3045600" cy="540000"/>
          </a:xfrm>
          <a:custGeom>
            <a:avLst/>
            <a:gdLst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30456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13692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5600" h="709684">
                <a:moveTo>
                  <a:pt x="0" y="0"/>
                </a:moveTo>
                <a:lnTo>
                  <a:pt x="3045600" y="0"/>
                </a:lnTo>
                <a:lnTo>
                  <a:pt x="1369200" y="709684"/>
                </a:lnTo>
                <a:lnTo>
                  <a:pt x="0" y="709684"/>
                </a:lnTo>
                <a:lnTo>
                  <a:pt x="0" y="0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2" name="Grafik 4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694695" y="96628"/>
            <a:ext cx="343080" cy="343080"/>
          </a:xfrm>
          <a:prstGeom prst="rect">
            <a:avLst/>
          </a:prstGeom>
        </p:spPr>
      </p:pic>
      <p:sp>
        <p:nvSpPr>
          <p:cNvPr id="43" name="Titel 1"/>
          <p:cNvSpPr>
            <a:spLocks noGrp="1"/>
          </p:cNvSpPr>
          <p:nvPr>
            <p:ph type="title"/>
          </p:nvPr>
        </p:nvSpPr>
        <p:spPr>
          <a:xfrm>
            <a:off x="345998" y="439200"/>
            <a:ext cx="11520237" cy="1050877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79" y="101472"/>
            <a:ext cx="1013125" cy="338235"/>
          </a:xfrm>
          <a:prstGeom prst="rect">
            <a:avLst/>
          </a:prstGeom>
        </p:spPr>
      </p:pic>
      <p:grpSp>
        <p:nvGrpSpPr>
          <p:cNvPr id="27" name="Group 11"/>
          <p:cNvGrpSpPr/>
          <p:nvPr userDrawn="1"/>
        </p:nvGrpSpPr>
        <p:grpSpPr>
          <a:xfrm>
            <a:off x="10332231" y="6554393"/>
            <a:ext cx="1476762" cy="227174"/>
            <a:chOff x="9871702" y="6372648"/>
            <a:chExt cx="2027868" cy="327056"/>
          </a:xfrm>
        </p:grpSpPr>
        <p:pic>
          <p:nvPicPr>
            <p:cNvPr id="28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29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33" name="Pictur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74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Rechteck 7"/>
          <p:cNvSpPr/>
          <p:nvPr userDrawn="1"/>
        </p:nvSpPr>
        <p:spPr>
          <a:xfrm>
            <a:off x="0" y="0"/>
            <a:ext cx="3045600" cy="540000"/>
          </a:xfrm>
          <a:custGeom>
            <a:avLst/>
            <a:gdLst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30456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13692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5600" h="709684">
                <a:moveTo>
                  <a:pt x="0" y="0"/>
                </a:moveTo>
                <a:lnTo>
                  <a:pt x="3045600" y="0"/>
                </a:lnTo>
                <a:lnTo>
                  <a:pt x="1369200" y="709684"/>
                </a:lnTo>
                <a:lnTo>
                  <a:pt x="0" y="709684"/>
                </a:lnTo>
                <a:lnTo>
                  <a:pt x="0" y="0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38" name="Grafik 3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694695" y="96628"/>
            <a:ext cx="343080" cy="343080"/>
          </a:xfrm>
          <a:prstGeom prst="rect">
            <a:avLst/>
          </a:prstGeom>
        </p:spPr>
      </p:pic>
      <p:sp>
        <p:nvSpPr>
          <p:cNvPr id="39" name="Titel 1"/>
          <p:cNvSpPr>
            <a:spLocks noGrp="1"/>
          </p:cNvSpPr>
          <p:nvPr>
            <p:ph type="title"/>
          </p:nvPr>
        </p:nvSpPr>
        <p:spPr>
          <a:xfrm>
            <a:off x="345998" y="432000"/>
            <a:ext cx="11520237" cy="1050877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79" y="101472"/>
            <a:ext cx="1013125" cy="338235"/>
          </a:xfrm>
          <a:prstGeom prst="rect">
            <a:avLst/>
          </a:prstGeom>
        </p:spPr>
      </p:pic>
      <p:grpSp>
        <p:nvGrpSpPr>
          <p:cNvPr id="21" name="Group 11"/>
          <p:cNvGrpSpPr/>
          <p:nvPr userDrawn="1"/>
        </p:nvGrpSpPr>
        <p:grpSpPr>
          <a:xfrm>
            <a:off x="10332231" y="6554393"/>
            <a:ext cx="1476762" cy="227174"/>
            <a:chOff x="9871702" y="6372648"/>
            <a:chExt cx="2027868" cy="327056"/>
          </a:xfrm>
        </p:grpSpPr>
        <p:pic>
          <p:nvPicPr>
            <p:cNvPr id="22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23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24" name="Pictur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45600" y="1299600"/>
            <a:ext cx="11349038" cy="42672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 i="1">
                <a:solidFill>
                  <a:srgbClr val="0070C0"/>
                </a:solidFill>
              </a:defRPr>
            </a:lvl1pPr>
            <a:lvl2pPr>
              <a:defRPr sz="2200" i="1">
                <a:solidFill>
                  <a:srgbClr val="0070C0"/>
                </a:solidFill>
              </a:defRPr>
            </a:lvl2pPr>
            <a:lvl3pPr>
              <a:defRPr sz="2200" i="1">
                <a:solidFill>
                  <a:srgbClr val="0070C0"/>
                </a:solidFill>
              </a:defRPr>
            </a:lvl3pPr>
            <a:lvl4pPr>
              <a:defRPr sz="2200" i="1">
                <a:solidFill>
                  <a:srgbClr val="0070C0"/>
                </a:solidFill>
              </a:defRPr>
            </a:lvl4pPr>
            <a:lvl5pPr>
              <a:defRPr sz="2200" i="1">
                <a:solidFill>
                  <a:srgbClr val="0070C0"/>
                </a:solidFill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25374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 userDrawn="1"/>
        </p:nvSpPr>
        <p:spPr>
          <a:xfrm>
            <a:off x="0" y="-1"/>
            <a:ext cx="12192000" cy="6292645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38" name="Grafik 3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269342" y="126124"/>
            <a:ext cx="811873" cy="811873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20030" y="3209240"/>
            <a:ext cx="5822950" cy="1952625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  <a:endParaRPr lang="de-AT" dirty="0"/>
          </a:p>
        </p:txBody>
      </p:sp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518" y="193825"/>
            <a:ext cx="2229040" cy="744172"/>
          </a:xfrm>
          <a:prstGeom prst="rect">
            <a:avLst/>
          </a:prstGeom>
        </p:spPr>
      </p:pic>
      <p:grpSp>
        <p:nvGrpSpPr>
          <p:cNvPr id="22" name="Group 11"/>
          <p:cNvGrpSpPr/>
          <p:nvPr userDrawn="1"/>
        </p:nvGrpSpPr>
        <p:grpSpPr>
          <a:xfrm>
            <a:off x="10332231" y="6554393"/>
            <a:ext cx="1476762" cy="227174"/>
            <a:chOff x="9871702" y="6372648"/>
            <a:chExt cx="2027868" cy="327056"/>
          </a:xfrm>
        </p:grpSpPr>
        <p:pic>
          <p:nvPicPr>
            <p:cNvPr id="2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8529" y="6418736"/>
              <a:ext cx="741041" cy="252880"/>
            </a:xfrm>
            <a:prstGeom prst="rect">
              <a:avLst/>
            </a:prstGeom>
          </p:spPr>
        </p:pic>
        <p:pic>
          <p:nvPicPr>
            <p:cNvPr id="24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256" y="6372648"/>
              <a:ext cx="382592" cy="327056"/>
            </a:xfrm>
            <a:prstGeom prst="rect">
              <a:avLst/>
            </a:prstGeom>
          </p:spPr>
        </p:pic>
        <p:pic>
          <p:nvPicPr>
            <p:cNvPr id="25" name="Pictur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702" y="6394450"/>
              <a:ext cx="560232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284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E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Rechteck 7"/>
          <p:cNvSpPr/>
          <p:nvPr userDrawn="1"/>
        </p:nvSpPr>
        <p:spPr>
          <a:xfrm>
            <a:off x="0" y="0"/>
            <a:ext cx="3045600" cy="540000"/>
          </a:xfrm>
          <a:custGeom>
            <a:avLst/>
            <a:gdLst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30456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  <a:gd name="connsiteX0" fmla="*/ 0 w 3045600"/>
              <a:gd name="connsiteY0" fmla="*/ 0 h 709684"/>
              <a:gd name="connsiteX1" fmla="*/ 3045600 w 3045600"/>
              <a:gd name="connsiteY1" fmla="*/ 0 h 709684"/>
              <a:gd name="connsiteX2" fmla="*/ 1369200 w 3045600"/>
              <a:gd name="connsiteY2" fmla="*/ 709684 h 709684"/>
              <a:gd name="connsiteX3" fmla="*/ 0 w 3045600"/>
              <a:gd name="connsiteY3" fmla="*/ 709684 h 709684"/>
              <a:gd name="connsiteX4" fmla="*/ 0 w 3045600"/>
              <a:gd name="connsiteY4" fmla="*/ 0 h 70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5600" h="709684">
                <a:moveTo>
                  <a:pt x="0" y="0"/>
                </a:moveTo>
                <a:lnTo>
                  <a:pt x="3045600" y="0"/>
                </a:lnTo>
                <a:lnTo>
                  <a:pt x="1369200" y="709684"/>
                </a:lnTo>
                <a:lnTo>
                  <a:pt x="0" y="709684"/>
                </a:lnTo>
                <a:lnTo>
                  <a:pt x="0" y="0"/>
                </a:lnTo>
                <a:close/>
              </a:path>
            </a:pathLst>
          </a:custGeom>
          <a:solidFill>
            <a:srgbClr val="CF2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t="19136" r="19151" b="19808"/>
          <a:stretch/>
        </p:blipFill>
        <p:spPr>
          <a:xfrm>
            <a:off x="11694695" y="96628"/>
            <a:ext cx="343080" cy="343080"/>
          </a:xfrm>
          <a:prstGeom prst="rect">
            <a:avLst/>
          </a:prstGeom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45998" y="432000"/>
            <a:ext cx="11520237" cy="1050877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79" y="101472"/>
            <a:ext cx="1013125" cy="3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5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9012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495368"/>
              </p:ext>
            </p:extLst>
          </p:nvPr>
        </p:nvGraphicFramePr>
        <p:xfrm>
          <a:off x="309971" y="553012"/>
          <a:ext cx="9720000" cy="598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879"/>
                <a:gridCol w="1699092"/>
                <a:gridCol w="1381002"/>
                <a:gridCol w="829566"/>
                <a:gridCol w="965508"/>
                <a:gridCol w="1139011"/>
                <a:gridCol w="707810"/>
                <a:gridCol w="524140"/>
                <a:gridCol w="441498"/>
                <a:gridCol w="441498"/>
                <a:gridCol w="441498"/>
                <a:gridCol w="441498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latin typeface="+mn-lt"/>
                        </a:rPr>
                        <a:t>Entry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Photocat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Loading</a:t>
                      </a:r>
                    </a:p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12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mol</a:t>
                      </a: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NiBr2 </a:t>
                      </a: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Loading</a:t>
                      </a:r>
                    </a:p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12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mol</a:t>
                      </a: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DBU</a:t>
                      </a:r>
                    </a:p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(Equiv.)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SM </a:t>
                      </a: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conc.</a:t>
                      </a:r>
                    </a:p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(M)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Boc-HNHN</a:t>
                      </a:r>
                      <a:r>
                        <a:rPr lang="en-US" sz="1200" b="1" i="0" u="none" strike="noStrike" baseline="-25000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(Equiv.)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Temp.</a:t>
                      </a:r>
                    </a:p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(°C)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SM</a:t>
                      </a:r>
                      <a:r>
                        <a:rPr lang="en-US" sz="1200" b="1" i="0" u="none" strike="noStrike" baseline="30000" dirty="0" err="1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US" sz="1200" b="1" i="0" u="none" strike="noStrike" baseline="3000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lang="en-US" sz="1200" b="1" i="0" u="none" strike="noStrike" baseline="3000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  <a:p>
                      <a:pPr algn="l" fontAlgn="b"/>
                      <a:r>
                        <a:rPr lang="en-US" sz="1200" b="1" i="0" u="none" strike="noStrike" baseline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(%)</a:t>
                      </a:r>
                      <a:endParaRPr lang="en-US" sz="1200" b="1" i="0" u="none" strike="noStrike" baseline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</a:t>
                      </a:r>
                      <a:r>
                        <a:rPr lang="en-US" sz="1200" b="1" i="0" u="none" strike="noStrike" baseline="3000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lang="en-US" sz="1200" b="1" i="0" u="none" strike="noStrike" baseline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(%)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n-US" sz="1200" b="1" i="0" u="none" strike="noStrike" baseline="3000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lang="en-US" sz="1200" b="1" i="0" u="none" strike="noStrike" baseline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(%)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N1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N2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N3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N4</a:t>
                      </a: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N5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N6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N7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N8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baseline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N9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N10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N11</a:t>
                      </a: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N12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N13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N14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N15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N16</a:t>
                      </a: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N17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N18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N19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90000" marR="90000" marT="46800" marB="4680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</a:t>
                      </a: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46800" marB="46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40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1284" y="397349"/>
            <a:ext cx="11391386" cy="634621"/>
          </a:xfrm>
        </p:spPr>
        <p:txBody>
          <a:bodyPr/>
          <a:lstStyle/>
          <a:p>
            <a:r>
              <a:rPr lang="en-US" sz="3200" dirty="0"/>
              <a:t>Photochemical Buchwald-</a:t>
            </a:r>
            <a:r>
              <a:rPr lang="en-US" sz="3200" dirty="0" err="1"/>
              <a:t>Hartwig</a:t>
            </a:r>
            <a:r>
              <a:rPr lang="en-US" sz="3200" dirty="0"/>
              <a:t> Amination with </a:t>
            </a:r>
            <a:r>
              <a:rPr lang="en-US" sz="3200" dirty="0" smtClean="0"/>
              <a:t>Hydrazine 7/05/2020</a:t>
            </a:r>
            <a:endParaRPr lang="de-AT" sz="32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31284" y="1262815"/>
            <a:ext cx="8962143" cy="160535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de-AT" sz="2400" dirty="0" smtClean="0"/>
              <a:t>Alejandro Mata Gomez</a:t>
            </a:r>
          </a:p>
          <a:p>
            <a:pPr>
              <a:lnSpc>
                <a:spcPct val="70000"/>
              </a:lnSpc>
            </a:pPr>
            <a:r>
              <a:rPr lang="de-AT" sz="1900" dirty="0"/>
              <a:t>Center </a:t>
            </a:r>
            <a:r>
              <a:rPr lang="de-AT" sz="1900" dirty="0" err="1"/>
              <a:t>for</a:t>
            </a:r>
            <a:r>
              <a:rPr lang="de-AT" sz="1900" dirty="0"/>
              <a:t> </a:t>
            </a:r>
            <a:r>
              <a:rPr lang="de-AT" sz="1900" dirty="0" err="1"/>
              <a:t>Continuous</a:t>
            </a:r>
            <a:r>
              <a:rPr lang="de-AT" sz="1900" dirty="0"/>
              <a:t> Flow Synthesis </a:t>
            </a:r>
            <a:r>
              <a:rPr lang="de-AT" sz="1900" dirty="0" err="1"/>
              <a:t>and</a:t>
            </a:r>
            <a:r>
              <a:rPr lang="de-AT" sz="1900" dirty="0"/>
              <a:t> Processing (CCFLOW), RCPE </a:t>
            </a:r>
            <a:r>
              <a:rPr lang="de-AT" sz="1900" dirty="0" smtClean="0"/>
              <a:t>GmbH </a:t>
            </a:r>
            <a:r>
              <a:rPr lang="de-AT" sz="1900" dirty="0" err="1" smtClean="0"/>
              <a:t>and</a:t>
            </a:r>
            <a:endParaRPr lang="de-AT" sz="1900" dirty="0"/>
          </a:p>
          <a:p>
            <a:pPr>
              <a:lnSpc>
                <a:spcPct val="70000"/>
              </a:lnSpc>
              <a:spcAft>
                <a:spcPts val="1000"/>
              </a:spcAft>
            </a:pPr>
            <a:r>
              <a:rPr lang="de-AT" sz="1900" dirty="0" smtClean="0"/>
              <a:t>Institute </a:t>
            </a:r>
            <a:r>
              <a:rPr lang="de-AT" sz="1900" dirty="0" err="1"/>
              <a:t>of</a:t>
            </a:r>
            <a:r>
              <a:rPr lang="de-AT" sz="1900" dirty="0"/>
              <a:t> Chemistry, University </a:t>
            </a:r>
            <a:r>
              <a:rPr lang="de-AT" sz="1900" dirty="0" err="1"/>
              <a:t>of</a:t>
            </a:r>
            <a:r>
              <a:rPr lang="de-AT" sz="1900" dirty="0"/>
              <a:t> Graz, Austria</a:t>
            </a:r>
          </a:p>
          <a:p>
            <a:pPr>
              <a:lnSpc>
                <a:spcPct val="100000"/>
              </a:lnSpc>
            </a:pPr>
            <a:r>
              <a:rPr lang="de-AT" sz="1900" dirty="0" smtClean="0"/>
              <a:t>Alejandro.mata-gomez@rcpe.at			</a:t>
            </a:r>
            <a:r>
              <a:rPr lang="en-US" sz="2000" dirty="0" smtClean="0">
                <a:cs typeface="Times New Roman" pitchFamily="18" charset="0"/>
              </a:rPr>
              <a:t>http://</a:t>
            </a:r>
            <a:r>
              <a:rPr lang="en-US" altLang="de-DE" sz="2000" dirty="0" smtClean="0">
                <a:cs typeface="Times New Roman" pitchFamily="18" charset="0"/>
              </a:rPr>
              <a:t>goflow.at</a:t>
            </a:r>
            <a:endParaRPr lang="de-AT" altLang="de-DE" sz="2000" dirty="0"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de-AT" sz="1900" dirty="0"/>
          </a:p>
        </p:txBody>
      </p:sp>
      <p:pic>
        <p:nvPicPr>
          <p:cNvPr id="70658" name="Picture 2" descr="Resultado de imagen de janss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935" y="1419709"/>
            <a:ext cx="2232454" cy="95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54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DoE: Study of Fixed and </a:t>
            </a:r>
            <a:r>
              <a:rPr lang="en-US" dirty="0"/>
              <a:t>V</a:t>
            </a:r>
            <a:r>
              <a:rPr lang="en-US" dirty="0" smtClean="0"/>
              <a:t>ariable Conditions</a:t>
            </a:r>
            <a:endParaRPr lang="en-US" dirty="0"/>
          </a:p>
        </p:txBody>
      </p:sp>
      <p:sp>
        <p:nvSpPr>
          <p:cNvPr id="8" name="CasellaDiTesto 9"/>
          <p:cNvSpPr txBox="1"/>
          <p:nvPr/>
        </p:nvSpPr>
        <p:spPr>
          <a:xfrm>
            <a:off x="345600" y="2011783"/>
            <a:ext cx="11349038" cy="2855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Catalyst loading: 2.5 to 7.5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%.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Range in consonance with literature</a:t>
            </a:r>
          </a:p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Photocatalyst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loading: 0.1-0.5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%.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Same as catalyst loading</a:t>
            </a:r>
          </a:p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Starting material concentration: 0.2 -0.4 M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We observed some solubility problems with Ni when exceeding 0.4 M</a:t>
            </a:r>
          </a:p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Temperature: 80 to 120 °C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We observed some inconclusive results at high temperatures</a:t>
            </a:r>
          </a:p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DBU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1.5-3 </a:t>
            </a: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equiv. 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This range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answer the minimum needs for the reaction to work and the maximum equivalents to not been considered wasteful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GB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Boc</a:t>
            </a: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ydrazine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2-4 equiv. 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same as DBU</a:t>
            </a:r>
            <a:endParaRPr lang="en-GB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45600" y="1585063"/>
            <a:ext cx="11349038" cy="426720"/>
          </a:xfrm>
        </p:spPr>
        <p:txBody>
          <a:bodyPr/>
          <a:lstStyle/>
          <a:p>
            <a:r>
              <a:rPr lang="en-US" dirty="0" smtClean="0"/>
              <a:t>Variable Conditions</a:t>
            </a:r>
            <a:endParaRPr lang="en-US" dirty="0"/>
          </a:p>
        </p:txBody>
      </p:sp>
      <p:sp>
        <p:nvSpPr>
          <p:cNvPr id="10" name="Textplatzhalter 2"/>
          <p:cNvSpPr txBox="1">
            <a:spLocks/>
          </p:cNvSpPr>
          <p:nvPr/>
        </p:nvSpPr>
        <p:spPr>
          <a:xfrm>
            <a:off x="345600" y="5099694"/>
            <a:ext cx="11349038" cy="42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Fixed Conditions</a:t>
            </a:r>
            <a:endParaRPr lang="en-US" dirty="0"/>
          </a:p>
        </p:txBody>
      </p:sp>
      <p:sp>
        <p:nvSpPr>
          <p:cNvPr id="16" name="CasellaDiTesto 9"/>
          <p:cNvSpPr txBox="1"/>
          <p:nvPr/>
        </p:nvSpPr>
        <p:spPr>
          <a:xfrm>
            <a:off x="345600" y="5526414"/>
            <a:ext cx="11349038" cy="958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Residence time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20 minutes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as no improvement in yield was observed in the experiments checking the temperature.</a:t>
            </a:r>
          </a:p>
          <a:p>
            <a:pPr marL="228600" indent="-228600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Wavelength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was set at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395 nm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276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DoE Conditions</a:t>
            </a:r>
            <a:endParaRPr lang="en-US" dirty="0"/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1349403" y="3293517"/>
            <a:ext cx="3608562" cy="426720"/>
          </a:xfrm>
        </p:spPr>
        <p:txBody>
          <a:bodyPr/>
          <a:lstStyle/>
          <a:p>
            <a:r>
              <a:rPr lang="en-US" dirty="0" smtClean="0"/>
              <a:t>Fixed Conditions</a:t>
            </a:r>
            <a:endParaRPr lang="en-US" dirty="0"/>
          </a:p>
        </p:txBody>
      </p:sp>
      <p:sp>
        <p:nvSpPr>
          <p:cNvPr id="11" name="Textplatzhalter 2"/>
          <p:cNvSpPr txBox="1">
            <a:spLocks/>
          </p:cNvSpPr>
          <p:nvPr/>
        </p:nvSpPr>
        <p:spPr>
          <a:xfrm>
            <a:off x="1349402" y="4907451"/>
            <a:ext cx="3984598" cy="42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Continuous Variables (factors)</a:t>
            </a:r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70420"/>
              </p:ext>
            </p:extLst>
          </p:nvPr>
        </p:nvGraphicFramePr>
        <p:xfrm>
          <a:off x="1349402" y="5334171"/>
          <a:ext cx="8454391" cy="856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76"/>
                <a:gridCol w="1009968"/>
                <a:gridCol w="1214755"/>
                <a:gridCol w="1667193"/>
                <a:gridCol w="1078230"/>
                <a:gridCol w="1293622"/>
                <a:gridCol w="1277747"/>
              </a:tblGrid>
              <a:tr h="55147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SM conc.</a:t>
                      </a:r>
                    </a:p>
                    <a:p>
                      <a:r>
                        <a:rPr lang="en-US" sz="1400" dirty="0" smtClean="0"/>
                        <a:t>(M)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cat. loading</a:t>
                      </a:r>
                    </a:p>
                    <a:p>
                      <a:r>
                        <a:rPr lang="en-US" sz="1400" baseline="0" dirty="0" smtClean="0"/>
                        <a:t> (</a:t>
                      </a:r>
                      <a:r>
                        <a:rPr lang="en-US" sz="1400" baseline="0" dirty="0" err="1" smtClean="0"/>
                        <a:t>Mol</a:t>
                      </a:r>
                      <a:r>
                        <a:rPr lang="en-US" sz="1400" baseline="0" dirty="0" smtClean="0"/>
                        <a:t> %)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Photocat</a:t>
                      </a:r>
                      <a:r>
                        <a:rPr lang="en-US" sz="1400" dirty="0" smtClean="0"/>
                        <a:t> loading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Mol</a:t>
                      </a:r>
                      <a:r>
                        <a:rPr lang="en-US" sz="1400" baseline="0" dirty="0" smtClean="0"/>
                        <a:t> %)</a:t>
                      </a: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Base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(Equiv.)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Hydrazine</a:t>
                      </a:r>
                    </a:p>
                    <a:p>
                      <a:r>
                        <a:rPr lang="en-US" sz="1400" dirty="0" smtClean="0"/>
                        <a:t>(Equiv.)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Temperature</a:t>
                      </a:r>
                    </a:p>
                    <a:p>
                      <a:r>
                        <a:rPr lang="en-US" sz="1400" baseline="0" dirty="0" smtClean="0"/>
                        <a:t>(°C)</a:t>
                      </a:r>
                      <a:endParaRPr lang="en-US" sz="1400" baseline="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0.2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– 0.4</a:t>
                      </a:r>
                      <a:endParaRPr lang="en-US" sz="14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2.5 – 7.5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0.1 – 0.5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1.5 – 3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– 4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80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– 120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el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02868"/>
              </p:ext>
            </p:extLst>
          </p:nvPr>
        </p:nvGraphicFramePr>
        <p:xfrm>
          <a:off x="1349403" y="2106303"/>
          <a:ext cx="549560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68"/>
                <a:gridCol w="1214755"/>
                <a:gridCol w="1914843"/>
                <a:gridCol w="1356043"/>
              </a:tblGrid>
              <a:tr h="405077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Catalyst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Photocatalyst</a:t>
                      </a: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Hydrazine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derivative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DBU</a:t>
                      </a:r>
                      <a:endParaRPr lang="en-US" sz="14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NiBr</a:t>
                      </a:r>
                      <a:r>
                        <a:rPr lang="en-US" sz="14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3H</a:t>
                      </a:r>
                      <a:r>
                        <a:rPr lang="en-US" sz="14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Ir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dtbbpy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)(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ppy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4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]PF</a:t>
                      </a:r>
                      <a:r>
                        <a:rPr lang="en-US" sz="1400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Boc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hydrazine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platzhalter 2"/>
          <p:cNvSpPr txBox="1">
            <a:spLocks/>
          </p:cNvSpPr>
          <p:nvPr/>
        </p:nvSpPr>
        <p:spPr>
          <a:xfrm>
            <a:off x="1349403" y="1679583"/>
            <a:ext cx="3608562" cy="42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Discrete Variables</a:t>
            </a:r>
            <a:endParaRPr lang="en-US" dirty="0"/>
          </a:p>
        </p:txBody>
      </p:sp>
      <p:graphicFrame>
        <p:nvGraphicFramePr>
          <p:cNvPr id="16" name="Tabel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00027"/>
              </p:ext>
            </p:extLst>
          </p:nvPr>
        </p:nvGraphicFramePr>
        <p:xfrm>
          <a:off x="1349402" y="3720237"/>
          <a:ext cx="238188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130"/>
                <a:gridCol w="1214755"/>
              </a:tblGrid>
              <a:tr h="4782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Residence</a:t>
                      </a:r>
                      <a:r>
                        <a:rPr lang="en-US" sz="1400" baseline="0" dirty="0" smtClean="0"/>
                        <a:t> </a:t>
                      </a:r>
                    </a:p>
                    <a:p>
                      <a:r>
                        <a:rPr lang="en-US" sz="1400" baseline="0" dirty="0" smtClean="0"/>
                        <a:t>Time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Wavelength</a:t>
                      </a:r>
                      <a:endParaRPr lang="en-US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20 minutes</a:t>
                      </a:r>
                      <a:endParaRPr lang="en-US" sz="14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395 nm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feld 8"/>
          <p:cNvSpPr txBox="1"/>
          <p:nvPr/>
        </p:nvSpPr>
        <p:spPr>
          <a:xfrm>
            <a:off x="7830870" y="3887785"/>
            <a:ext cx="3525206" cy="8290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Fractional factorial of 16 experiments reduced from the full factorial of 64 experiments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540" y="2259128"/>
            <a:ext cx="1542484" cy="1409183"/>
          </a:xfrm>
          <a:prstGeom prst="rect">
            <a:avLst/>
          </a:prstGeom>
        </p:spPr>
      </p:pic>
      <p:sp>
        <p:nvSpPr>
          <p:cNvPr id="12" name="Textplatzhalter 2"/>
          <p:cNvSpPr txBox="1">
            <a:spLocks/>
          </p:cNvSpPr>
          <p:nvPr/>
        </p:nvSpPr>
        <p:spPr>
          <a:xfrm>
            <a:off x="7821637" y="1679583"/>
            <a:ext cx="3298884" cy="42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DoE Type</a:t>
            </a:r>
            <a:endParaRPr lang="en-US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069" y="2388480"/>
            <a:ext cx="1631541" cy="1279832"/>
          </a:xfrm>
          <a:prstGeom prst="rect">
            <a:avLst/>
          </a:prstGeom>
        </p:spPr>
      </p:pic>
      <p:sp>
        <p:nvSpPr>
          <p:cNvPr id="6" name="Pfeil nach rechts 5"/>
          <p:cNvSpPr/>
          <p:nvPr/>
        </p:nvSpPr>
        <p:spPr>
          <a:xfrm>
            <a:off x="9270610" y="2850127"/>
            <a:ext cx="533183" cy="32355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230400" indent="-23040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 smtClean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178174" y="1825038"/>
            <a:ext cx="11349038" cy="426720"/>
          </a:xfrm>
        </p:spPr>
        <p:txBody>
          <a:bodyPr/>
          <a:lstStyle/>
          <a:p>
            <a:r>
              <a:rPr lang="en-US" dirty="0" smtClean="0"/>
              <a:t>Model Statistics</a:t>
            </a: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/>
          <a:srcRect l="-261" t="27231" r="-295" b="11923"/>
          <a:stretch/>
        </p:blipFill>
        <p:spPr>
          <a:xfrm>
            <a:off x="178174" y="2593920"/>
            <a:ext cx="11902209" cy="4055012"/>
          </a:xfrm>
          <a:prstGeom prst="rect">
            <a:avLst/>
          </a:prstGeom>
        </p:spPr>
      </p:pic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45998" y="432000"/>
            <a:ext cx="11520237" cy="1050877"/>
          </a:xfrm>
        </p:spPr>
        <p:txBody>
          <a:bodyPr/>
          <a:lstStyle/>
          <a:p>
            <a:r>
              <a:rPr lang="en-US" dirty="0" smtClean="0"/>
              <a:t>Second DoE Results</a:t>
            </a:r>
            <a:endParaRPr lang="en-US" dirty="0"/>
          </a:p>
        </p:txBody>
      </p:sp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51374"/>
              </p:ext>
            </p:extLst>
          </p:nvPr>
        </p:nvGraphicFramePr>
        <p:xfrm>
          <a:off x="6614190" y="577645"/>
          <a:ext cx="5521325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2" name="CS ChemDraw Drawing" r:id="rId4" imgW="5836811" imgH="1714417" progId="ChemDraw.Document.6.0">
                  <p:embed/>
                </p:oleObj>
              </mc:Choice>
              <mc:Fallback>
                <p:oleObj name="CS ChemDraw Drawing" r:id="rId4" imgW="5836811" imgH="17144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4190" y="577645"/>
                        <a:ext cx="5521325" cy="162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561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DoE Results</a:t>
            </a:r>
            <a:endParaRPr lang="en-US" dirty="0"/>
          </a:p>
        </p:txBody>
      </p:sp>
      <p:sp>
        <p:nvSpPr>
          <p:cNvPr id="7" name="Textplatzhalter 2"/>
          <p:cNvSpPr txBox="1">
            <a:spLocks/>
          </p:cNvSpPr>
          <p:nvPr/>
        </p:nvSpPr>
        <p:spPr>
          <a:xfrm>
            <a:off x="344795" y="1831088"/>
            <a:ext cx="4562056" cy="42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Coefficients for Desired </a:t>
            </a:r>
            <a:r>
              <a:rPr lang="en-US" dirty="0"/>
              <a:t>P</a:t>
            </a:r>
            <a:r>
              <a:rPr lang="en-US" dirty="0" smtClean="0"/>
              <a:t>roducts</a:t>
            </a: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5" y="2274587"/>
            <a:ext cx="11521440" cy="3981986"/>
          </a:xfrm>
          <a:prstGeom prst="rect">
            <a:avLst/>
          </a:prstGeom>
        </p:spPr>
      </p:pic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880700"/>
              </p:ext>
            </p:extLst>
          </p:nvPr>
        </p:nvGraphicFramePr>
        <p:xfrm>
          <a:off x="6614190" y="577645"/>
          <a:ext cx="5521325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5" name="CS ChemDraw Drawing" r:id="rId4" imgW="5836811" imgH="1714417" progId="ChemDraw.Document.6.0">
                  <p:embed/>
                </p:oleObj>
              </mc:Choice>
              <mc:Fallback>
                <p:oleObj name="CS ChemDraw Drawing" r:id="rId4" imgW="5836811" imgH="17144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4190" y="577645"/>
                        <a:ext cx="5521325" cy="162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56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DoE Results</a:t>
            </a:r>
            <a:endParaRPr lang="en-US" dirty="0"/>
          </a:p>
        </p:txBody>
      </p:sp>
      <p:sp>
        <p:nvSpPr>
          <p:cNvPr id="7" name="Textplatzhalter 2"/>
          <p:cNvSpPr txBox="1">
            <a:spLocks/>
          </p:cNvSpPr>
          <p:nvPr/>
        </p:nvSpPr>
        <p:spPr>
          <a:xfrm>
            <a:off x="345998" y="1960479"/>
            <a:ext cx="6081763" cy="42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i="1" kern="120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Coefficients for </a:t>
            </a:r>
            <a:r>
              <a:rPr lang="en-US" dirty="0" err="1" smtClean="0"/>
              <a:t>Sideproduct</a:t>
            </a:r>
            <a:r>
              <a:rPr lang="en-US" dirty="0" smtClean="0"/>
              <a:t> vs Products</a:t>
            </a:r>
            <a:endParaRPr lang="en-US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98" y="2548426"/>
            <a:ext cx="11286686" cy="3709318"/>
          </a:xfrm>
          <a:prstGeom prst="rect">
            <a:avLst/>
          </a:prstGeom>
        </p:spPr>
      </p:pic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880700"/>
              </p:ext>
            </p:extLst>
          </p:nvPr>
        </p:nvGraphicFramePr>
        <p:xfrm>
          <a:off x="6614190" y="577645"/>
          <a:ext cx="5521325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4" name="CS ChemDraw Drawing" r:id="rId4" imgW="5836811" imgH="1714417" progId="ChemDraw.Document.6.0">
                  <p:embed/>
                </p:oleObj>
              </mc:Choice>
              <mc:Fallback>
                <p:oleObj name="CS ChemDraw Drawing" r:id="rId4" imgW="5836811" imgH="17144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4190" y="577645"/>
                        <a:ext cx="5521325" cy="162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101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45998" y="1693744"/>
            <a:ext cx="11349038" cy="426720"/>
          </a:xfrm>
        </p:spPr>
        <p:txBody>
          <a:bodyPr/>
          <a:lstStyle/>
          <a:p>
            <a:r>
              <a:rPr lang="en-US" dirty="0"/>
              <a:t>4</a:t>
            </a:r>
            <a:r>
              <a:rPr lang="en-US" dirty="0" smtClean="0"/>
              <a:t>D Contour</a:t>
            </a: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56" y="2350477"/>
            <a:ext cx="11770519" cy="4088707"/>
          </a:xfrm>
          <a:prstGeom prst="rect">
            <a:avLst/>
          </a:prstGeom>
        </p:spPr>
      </p:pic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45998" y="432000"/>
            <a:ext cx="11520237" cy="1050877"/>
          </a:xfrm>
        </p:spPr>
        <p:txBody>
          <a:bodyPr/>
          <a:lstStyle/>
          <a:p>
            <a:r>
              <a:rPr lang="en-US" dirty="0" smtClean="0"/>
              <a:t>Second DoE Results</a:t>
            </a:r>
            <a:endParaRPr lang="en-US" dirty="0"/>
          </a:p>
        </p:txBody>
      </p:sp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430201"/>
              </p:ext>
            </p:extLst>
          </p:nvPr>
        </p:nvGraphicFramePr>
        <p:xfrm>
          <a:off x="6614190" y="577645"/>
          <a:ext cx="5521325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4" name="CS ChemDraw Drawing" r:id="rId4" imgW="5836811" imgH="1714417" progId="ChemDraw.Document.6.0">
                  <p:embed/>
                </p:oleObj>
              </mc:Choice>
              <mc:Fallback>
                <p:oleObj name="CS ChemDraw Drawing" r:id="rId4" imgW="5836811" imgH="17144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4190" y="577645"/>
                        <a:ext cx="5521325" cy="162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023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Larissa">
  <a:themeElements>
    <a:clrScheme name="RCPE PRESENTATION COLORS">
      <a:dk1>
        <a:srgbClr val="3F3F3F"/>
      </a:dk1>
      <a:lt1>
        <a:srgbClr val="FFFFFF"/>
      </a:lt1>
      <a:dk2>
        <a:srgbClr val="CF2249"/>
      </a:dk2>
      <a:lt2>
        <a:srgbClr val="F2F2F2"/>
      </a:lt2>
      <a:accent1>
        <a:srgbClr val="009691"/>
      </a:accent1>
      <a:accent2>
        <a:srgbClr val="5E508F"/>
      </a:accent2>
      <a:accent3>
        <a:srgbClr val="CF2249"/>
      </a:accent3>
      <a:accent4>
        <a:srgbClr val="EC951A"/>
      </a:accent4>
      <a:accent5>
        <a:srgbClr val="00B2AD"/>
      </a:accent5>
      <a:accent6>
        <a:srgbClr val="6F60AA"/>
      </a:accent6>
      <a:hlink>
        <a:srgbClr val="3F3F3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8E2E1"/>
        </a:solidFill>
      </a:spPr>
      <a:bodyPr wrap="square">
        <a:spAutoFit/>
      </a:bodyPr>
      <a:lstStyle>
        <a:defPPr marL="230400" indent="-230400">
          <a:lnSpc>
            <a:spcPct val="150000"/>
          </a:lnSpc>
          <a:buFont typeface="Wingdings" panose="05000000000000000000" pitchFamily="2" charset="2"/>
          <a:buChar char="§"/>
          <a:defRPr dirty="0" smtClean="0">
            <a:solidFill>
              <a:srgbClr val="3F3F3F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txDef>
      <a:spPr/>
      <a:bodyPr wrap="square" rtlCol="0">
        <a:spAutoFit/>
      </a:bodyPr>
      <a:lstStyle>
        <a:defPPr marL="285750" indent="-285750">
          <a:lnSpc>
            <a:spcPct val="114000"/>
          </a:lnSpc>
          <a:spcBef>
            <a:spcPts val="600"/>
          </a:spcBef>
          <a:buFont typeface="Wingdings" panose="05000000000000000000" pitchFamily="2" charset="2"/>
          <a:buChar char="§"/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530</Words>
  <Application>Microsoft Office PowerPoint</Application>
  <PresentationFormat>Widescreen</PresentationFormat>
  <Paragraphs>290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LT Std 35 Light</vt:lpstr>
      <vt:lpstr>Times New Roman</vt:lpstr>
      <vt:lpstr>Wingdings</vt:lpstr>
      <vt:lpstr>1_Larissa</vt:lpstr>
      <vt:lpstr>CS ChemDraw Drawing</vt:lpstr>
      <vt:lpstr>PowerPoint Presentation</vt:lpstr>
      <vt:lpstr>Photochemical Buchwald-Hartwig Amination with Hydrazine 7/05/2020</vt:lpstr>
      <vt:lpstr>DoE: Study of Fixed and Variable Conditions</vt:lpstr>
      <vt:lpstr>DoE Conditions</vt:lpstr>
      <vt:lpstr>Second DoE Results</vt:lpstr>
      <vt:lpstr>Second DoE Results</vt:lpstr>
      <vt:lpstr>Second DoE Results</vt:lpstr>
      <vt:lpstr>Second DoE Results</vt:lpstr>
    </vt:vector>
  </TitlesOfParts>
  <Company>Uni Graz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(Arial 28, RGB: 0/150/145)</dc:title>
  <dc:creator>Dallinger, Doris (do.dallinger@uni-graz.at)</dc:creator>
  <cp:lastModifiedBy>Williams Jason</cp:lastModifiedBy>
  <cp:revision>230</cp:revision>
  <dcterms:created xsi:type="dcterms:W3CDTF">2018-09-13T14:23:25Z</dcterms:created>
  <dcterms:modified xsi:type="dcterms:W3CDTF">2021-11-23T08:02:50Z</dcterms:modified>
</cp:coreProperties>
</file>